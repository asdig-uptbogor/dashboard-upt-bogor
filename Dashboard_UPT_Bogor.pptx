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D" sz="1600" b="0" i="0" u="none" strike="noStrike">
                <a:solidFill>
                  <a:srgbClr val="1E293B"/>
                </a:solidFill>
                <a:latin typeface="Arial"/>
              </a:rPr>
              <a:t>Trending Tegakan UPT Bogor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Bahaya 2</c:v>
                </c:pt>
              </c:strCache>
            </c:strRef>
          </c:tx>
          <c:spPr>
            <a:ln w="25400" cap="flat">
              <a:solidFill>
                <a:srgbClr val="FACC1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ACC15"/>
              </a:solidFill>
              <a:ln w="9525" cap="flat">
                <a:solidFill>
                  <a:srgbClr val="FACC1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40082</c:v>
                </c:pt>
                <c:pt idx="1">
                  <c:v>38292</c:v>
                </c:pt>
                <c:pt idx="2">
                  <c:v>37761</c:v>
                </c:pt>
                <c:pt idx="3">
                  <c:v>41773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DC-4D80-9773-8FEFDD10AB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Bahaya 1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33405</c:v>
                </c:pt>
                <c:pt idx="1">
                  <c:v>31835</c:v>
                </c:pt>
                <c:pt idx="2">
                  <c:v>29560</c:v>
                </c:pt>
                <c:pt idx="3">
                  <c:v>20154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DC-4D80-9773-8FEFDD10AB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Kritis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CDC-4D80-9773-8FEFDD10AB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D" sz="1400" b="0" i="0" u="none" strike="noStrike">
                <a:solidFill>
                  <a:srgbClr val="1E293B"/>
                </a:solidFill>
                <a:latin typeface="Arial"/>
              </a:rPr>
              <a:t>ANTI BINATANG TOWER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Anti Binatang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5B-436E-8535-AF98A81F49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Realisasi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Anti Binatang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5B-436E-8535-AF98A81F49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D" sz="1400" b="0" i="0" u="none" strike="noStrike">
                <a:solidFill>
                  <a:srgbClr val="1E293B"/>
                </a:solidFill>
                <a:latin typeface="Arial"/>
              </a:rPr>
              <a:t>TAPAK TOWER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Tapak Tower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D-4DA4-8AAE-B68D04CBD2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Realisasi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Tapak Tower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ED-4DA4-8AAE-B68D04CBD2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D" sz="1400" b="0" i="0" u="none" strike="noStrike">
                <a:solidFill>
                  <a:srgbClr val="1E293B"/>
                </a:solidFill>
                <a:latin typeface="Arial"/>
              </a:rPr>
              <a:t>AHI TOWER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</c:v>
                </c:pt>
              </c:strCache>
            </c:strRef>
          </c:tx>
          <c:spPr>
            <a:solidFill>
              <a:srgbClr val="A3E6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 Good</c:v>
                </c:pt>
                <c:pt idx="1">
                  <c:v>Good</c:v>
                </c:pt>
                <c:pt idx="2">
                  <c:v>Fair</c:v>
                </c:pt>
                <c:pt idx="3">
                  <c:v>Poor</c:v>
                </c:pt>
                <c:pt idx="4">
                  <c:v>Very Poor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381</c:v>
                </c:pt>
                <c:pt idx="1">
                  <c:v>1168</c:v>
                </c:pt>
                <c:pt idx="2">
                  <c:v>137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CC-4530-8E66-7E6B95C64A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D" sz="1400" b="0" i="0" u="none" strike="noStrike" dirty="0">
                <a:solidFill>
                  <a:srgbClr val="1E293B"/>
                </a:solidFill>
                <a:latin typeface="Arial"/>
              </a:rPr>
              <a:t>AHI SPAN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</c:v>
                </c:pt>
              </c:strCache>
            </c:strRef>
          </c:tx>
          <c:spPr>
            <a:solidFill>
              <a:srgbClr val="A3E6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 Good</c:v>
                </c:pt>
                <c:pt idx="1">
                  <c:v>Good</c:v>
                </c:pt>
                <c:pt idx="2">
                  <c:v>Fair</c:v>
                </c:pt>
                <c:pt idx="3">
                  <c:v>Poor</c:v>
                </c:pt>
                <c:pt idx="4">
                  <c:v>Very Poor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896</c:v>
                </c:pt>
                <c:pt idx="2">
                  <c:v>654</c:v>
                </c:pt>
                <c:pt idx="3">
                  <c:v>86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75-4EF3-9955-1C1261FDD1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96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-3619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</a:rPr>
              <a:t>DETAIL CE NEXT LEVEL UPT BOGOR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747392576"/>
              </p:ext>
            </p:extLst>
          </p:nvPr>
        </p:nvGraphicFramePr>
        <p:xfrm>
          <a:off x="91440" y="45339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558870590"/>
              </p:ext>
            </p:extLst>
          </p:nvPr>
        </p:nvGraphicFramePr>
        <p:xfrm>
          <a:off x="4518660" y="308609"/>
          <a:ext cx="4381500" cy="1274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"/>
          <p:cNvGraphicFramePr/>
          <p:nvPr>
            <p:extLst>
              <p:ext uri="{D42A27DB-BD31-4B8C-83A1-F6EECF244321}">
                <p14:modId xmlns:p14="http://schemas.microsoft.com/office/powerpoint/2010/main" val="128939210"/>
              </p:ext>
            </p:extLst>
          </p:nvPr>
        </p:nvGraphicFramePr>
        <p:xfrm>
          <a:off x="4495800" y="1357208"/>
          <a:ext cx="4556760" cy="1038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3"/>
          <p:cNvGraphicFramePr/>
          <p:nvPr>
            <p:extLst>
              <p:ext uri="{D42A27DB-BD31-4B8C-83A1-F6EECF244321}">
                <p14:modId xmlns:p14="http://schemas.microsoft.com/office/powerpoint/2010/main" val="4139606616"/>
              </p:ext>
            </p:extLst>
          </p:nvPr>
        </p:nvGraphicFramePr>
        <p:xfrm>
          <a:off x="4754880" y="2214454"/>
          <a:ext cx="3909060" cy="1578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Shape 1"/>
          <p:cNvSpPr/>
          <p:nvPr/>
        </p:nvSpPr>
        <p:spPr>
          <a:xfrm>
            <a:off x="297180" y="2830829"/>
            <a:ext cx="3909060" cy="2189903"/>
          </a:xfrm>
          <a:prstGeom prst="rect">
            <a:avLst/>
          </a:prstGeom>
          <a:solidFill>
            <a:srgbClr val="FFFBEB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2"/>
          <p:cNvSpPr/>
          <p:nvPr/>
        </p:nvSpPr>
        <p:spPr>
          <a:xfrm>
            <a:off x="396240" y="2912744"/>
            <a:ext cx="3726180" cy="202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</a:rPr>
              <a:t>• ROW 9700 POHON (didalam Span)&amp; 
</a:t>
            </a:r>
            <a:r>
              <a:rPr lang="en-US" sz="1000" dirty="0">
                <a:solidFill>
                  <a:srgbClr val="333333"/>
                </a:solidFill>
              </a:rPr>
              <a:t>  - 3853 bambu/Pisang (Penambahan bulan April)
  - 5847 Pohon Keras
</a:t>
            </a:r>
            <a:r>
              <a:rPr lang="en-US" sz="1000" b="1" dirty="0">
                <a:solidFill>
                  <a:srgbClr val="000000"/>
                </a:solidFill>
              </a:rPr>
              <a:t>• ANTI BINATANG TOWER 16 TOWER
</a:t>
            </a:r>
            <a:r>
              <a:rPr lang="en-US" sz="1000" dirty="0">
                <a:solidFill>
                  <a:srgbClr val="333333"/>
                </a:solidFill>
              </a:rPr>
              <a:t>  - Proses PO material
</a:t>
            </a:r>
            <a:r>
              <a:rPr lang="en-US" sz="1000" b="1" dirty="0">
                <a:solidFill>
                  <a:srgbClr val="000000"/>
                </a:solidFill>
              </a:rPr>
              <a:t>• TAPAK TOWER
</a:t>
            </a:r>
            <a:r>
              <a:rPr lang="en-US" sz="1000" dirty="0">
                <a:solidFill>
                  <a:srgbClr val="333333"/>
                </a:solidFill>
              </a:rPr>
              <a:t>  - Selesai Dibersihkan
</a:t>
            </a:r>
            <a:r>
              <a:rPr lang="en-US" sz="1000" b="1" dirty="0">
                <a:solidFill>
                  <a:srgbClr val="000000"/>
                </a:solidFill>
              </a:rPr>
              <a:t>• AHI TOWER
</a:t>
            </a:r>
            <a:r>
              <a:rPr lang="en-US" sz="1000" dirty="0">
                <a:solidFill>
                  <a:srgbClr val="333333"/>
                </a:solidFill>
              </a:rPr>
              <a:t>  - Status Poor pada AHI Tower </a:t>
            </a:r>
            <a:r>
              <a:rPr lang="en-US" sz="1000" dirty="0" err="1">
                <a:solidFill>
                  <a:srgbClr val="333333"/>
                </a:solidFill>
              </a:rPr>
              <a:t>rencana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sz="1000" dirty="0" err="1">
                <a:solidFill>
                  <a:srgbClr val="333333"/>
                </a:solidFill>
              </a:rPr>
              <a:t>Perkuatan</a:t>
            </a:r>
            <a:r>
              <a:rPr lang="en-US" sz="1000" dirty="0">
                <a:solidFill>
                  <a:srgbClr val="333333"/>
                </a:solidFill>
              </a:rPr>
              <a:t> tower pada SUTT 150 kV Gis Pratu - Semenjawa + Cibadakbaru T.24 &amp; T.31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• AHI SPAN</a:t>
            </a:r>
          </a:p>
          <a:p>
            <a:r>
              <a:rPr lang="en-US" sz="1000" b="1" dirty="0">
                <a:solidFill>
                  <a:srgbClr val="000000"/>
                </a:solidFill>
              </a:rPr>
              <a:t>- </a:t>
            </a:r>
            <a:r>
              <a:rPr lang="en-US" sz="1000" dirty="0" err="1">
                <a:solidFill>
                  <a:srgbClr val="333333"/>
                </a:solidFill>
              </a:rPr>
              <a:t>Anomali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sz="1000" dirty="0" err="1">
                <a:solidFill>
                  <a:srgbClr val="333333"/>
                </a:solidFill>
              </a:rPr>
              <a:t>dominan</a:t>
            </a:r>
            <a:r>
              <a:rPr lang="en-US" sz="1000" dirty="0">
                <a:solidFill>
                  <a:srgbClr val="333333"/>
                </a:solidFill>
              </a:rPr>
              <a:t> pada </a:t>
            </a:r>
            <a:r>
              <a:rPr lang="en-US" sz="1000" dirty="0" err="1">
                <a:solidFill>
                  <a:srgbClr val="333333"/>
                </a:solidFill>
              </a:rPr>
              <a:t>benda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sz="1000" dirty="0" err="1">
                <a:solidFill>
                  <a:srgbClr val="333333"/>
                </a:solidFill>
              </a:rPr>
              <a:t>asing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sz="1000" dirty="0" err="1">
                <a:solidFill>
                  <a:srgbClr val="333333"/>
                </a:solidFill>
              </a:rPr>
              <a:t>benang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sz="1000" dirty="0" err="1">
                <a:solidFill>
                  <a:srgbClr val="333333"/>
                </a:solidFill>
              </a:rPr>
              <a:t>layang-layang</a:t>
            </a:r>
            <a:r>
              <a:rPr lang="en-US" sz="1000" dirty="0">
                <a:solidFill>
                  <a:srgbClr val="333333"/>
                </a:solidFill>
              </a:rPr>
              <a:t> pada GSW &amp; </a:t>
            </a:r>
            <a:r>
              <a:rPr lang="en-US" sz="1000" dirty="0" err="1">
                <a:solidFill>
                  <a:srgbClr val="333333"/>
                </a:solidFill>
              </a:rPr>
              <a:t>Konduktor</a:t>
            </a:r>
            <a:r>
              <a:rPr lang="en-US" sz="1000" dirty="0">
                <a:solidFill>
                  <a:srgbClr val="333333"/>
                </a:solidFill>
              </a:rPr>
              <a:t> dan juga ROW </a:t>
            </a:r>
            <a:endParaRPr lang="en-US" sz="1000" dirty="0"/>
          </a:p>
        </p:txBody>
      </p:sp>
      <p:graphicFrame>
        <p:nvGraphicFramePr>
          <p:cNvPr id="11" name="Chart 3">
            <a:extLst>
              <a:ext uri="{FF2B5EF4-FFF2-40B4-BE49-F238E27FC236}">
                <a16:creationId xmlns:a16="http://schemas.microsoft.com/office/drawing/2014/main" id="{0AAE1F18-1A90-293D-C43D-D65C589323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8437380"/>
              </p:ext>
            </p:extLst>
          </p:nvPr>
        </p:nvGraphicFramePr>
        <p:xfrm>
          <a:off x="4907280" y="3649132"/>
          <a:ext cx="3909060" cy="1578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On-screen Show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PLN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UPT Bogor</dc:title>
  <dc:subject>PptxGenJS Presentation</dc:subject>
  <dc:creator>UPT Bogor Dashboard</dc:creator>
  <cp:lastModifiedBy>DADI WAHYUDI</cp:lastModifiedBy>
  <cp:revision>2</cp:revision>
  <dcterms:created xsi:type="dcterms:W3CDTF">2026-04-26T02:36:40Z</dcterms:created>
  <dcterms:modified xsi:type="dcterms:W3CDTF">2026-04-26T02:47:31Z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2026-04-26T02:47:31Z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0e48f9d7-2701-4b80-bb71-211bde24768a</vt:lpwstr>
  </property>
  <property fmtid="{D5CDD505-2E9C-101B-9397-08002B2CF9AE}" pid="7" name="MSIP_Label_defa4170-0d19-0005-0004-bc88714345d2_ActionId">
    <vt:lpwstr>9211ce32-8837-4e7e-86b5-08afc40819b7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